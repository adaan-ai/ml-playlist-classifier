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this project adapts the supplied 2018 CS229 playlist-curation report. The data source and task proxy are explained on the following slides. References: https://cs229.stanford.edu/proj2018/report/22.pdf and https://cs229.stanford.edu/proj2018/poster/22.pdf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2018 report frames playlist continuation as assigning a track to one of a user's playlists. Our supplied dataset has playlist genre labels, not personal playlist membership. We state this proxy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group by track_id, average repeated acoustic feature values, and preserve every playlist_genre assigned to that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split unique track IDs at random with seed 42. Imputation and scaling are scikit-learn pipeline steps fit on training data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selected model, Random Forest, is refit on all development tracks and evaluated once on the untouched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workflow: run `python -m src.playlist_curator`, then `streamlit run app.py`. Limit the conclusion to this measured playlist-genre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1500" cy="6858000"/>
          </a:xfrm>
          <a:prstGeom prst="rect">
            <a:avLst/>
          </a:prstGeom>
          <a:solidFill>
            <a:srgbClr val="17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838000"/>
            <a:ext cx="10287000" cy="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FD8CA"/>
                </a:solidFill>
                <a:latin typeface="Arial"/>
              </a:rPr>
              <a:t>UE24CS352A  / 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676000"/>
            <a:ext cx="9906000" cy="16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Training a Playlist Curator
Based on Track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000" y="3714000"/>
            <a:ext cx="9334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3DAE5"/>
                </a:solidFill>
                <a:latin typeface="Arial"/>
              </a:rPr>
              <a:t>A genre-based, reproducible adaptation of the CS229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819000" y="4590000"/>
            <a:ext cx="6572000" cy="19100"/>
          </a:xfrm>
          <a:prstGeom prst="rect">
            <a:avLst/>
          </a:prstGeom>
          <a:solidFill>
            <a:srgbClr val="3B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000" y="4858000"/>
            <a:ext cx="10478000" cy="26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Team: Mohammed Adaan Hamad and Lakshya Jeet Singh     Section: 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4000" y="476000"/>
            <a:ext cx="10287000" cy="5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5233B"/>
                </a:solidFill>
                <a:latin typeface="Arial"/>
              </a:rPr>
              <a:t>Problem and project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24000" y="1105000"/>
            <a:ext cx="10744200" cy="28600"/>
          </a:xfrm>
          <a:prstGeom prst="rect">
            <a:avLst/>
          </a:prstGeom>
          <a:solidFill>
            <a:srgbClr val="17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34000" y="6381000"/>
            <a:ext cx="2134000" cy="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26078"/>
                </a:solidFill>
                <a:latin typeface="Arial"/>
              </a:rPr>
              <a:t>02  /  UE24CS352A</a:t>
            </a:r>
          </a:p>
        </p:txBody>
      </p:sp>
      <p:sp>
        <p:nvSpPr>
          <p:cNvPr id="6" name="Oval 5"/>
          <p:cNvSpPr/>
          <p:nvPr/>
        </p:nvSpPr>
        <p:spPr>
          <a:xfrm>
            <a:off x="895000" y="1591000"/>
            <a:ext cx="133000" cy="133000"/>
          </a:xfrm>
          <a:prstGeom prst="ellipse">
            <a:avLst/>
          </a:prstGeom>
          <a:solidFill>
            <a:srgbClr val="17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9000" y="1505000"/>
            <a:ext cx="9773000" cy="8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1F2937"/>
                </a:solidFill>
                <a:latin typeface="Arial"/>
              </a:rPr>
              <a:t>Input: a track represented by numeric acoustic features.</a:t>
            </a:r>
          </a:p>
        </p:txBody>
      </p:sp>
      <p:sp>
        <p:nvSpPr>
          <p:cNvPr id="8" name="Oval 7"/>
          <p:cNvSpPr/>
          <p:nvPr/>
        </p:nvSpPr>
        <p:spPr>
          <a:xfrm>
            <a:off x="895000" y="2562000"/>
            <a:ext cx="133000" cy="133000"/>
          </a:xfrm>
          <a:prstGeom prst="ellipse">
            <a:avLst/>
          </a:prstGeom>
          <a:solidFill>
            <a:srgbClr val="17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9000" y="2476000"/>
            <a:ext cx="9773000" cy="8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1F2937"/>
                </a:solidFill>
                <a:latin typeface="Arial"/>
              </a:rPr>
              <a:t>Output: the most likely playlist category, plus ranked alternatives.</a:t>
            </a:r>
          </a:p>
        </p:txBody>
      </p:sp>
      <p:sp>
        <p:nvSpPr>
          <p:cNvPr id="10" name="Oval 9"/>
          <p:cNvSpPr/>
          <p:nvPr/>
        </p:nvSpPr>
        <p:spPr>
          <a:xfrm>
            <a:off x="895000" y="3533000"/>
            <a:ext cx="133000" cy="133000"/>
          </a:xfrm>
          <a:prstGeom prst="ellipse">
            <a:avLst/>
          </a:prstGeom>
          <a:solidFill>
            <a:srgbClr val="17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9000" y="3447000"/>
            <a:ext cx="9773000" cy="8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1F2937"/>
                </a:solidFill>
                <a:latin typeface="Arial"/>
              </a:rPr>
              <a:t>Playlist genres act as category labels, so the model does not learn individual taste.</a:t>
            </a:r>
          </a:p>
        </p:txBody>
      </p:sp>
      <p:sp>
        <p:nvSpPr>
          <p:cNvPr id="12" name="Oval 11"/>
          <p:cNvSpPr/>
          <p:nvPr/>
        </p:nvSpPr>
        <p:spPr>
          <a:xfrm>
            <a:off x="895000" y="4504000"/>
            <a:ext cx="133000" cy="133000"/>
          </a:xfrm>
          <a:prstGeom prst="ellipse">
            <a:avLst/>
          </a:prstGeom>
          <a:solidFill>
            <a:srgbClr val="17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9000" y="4418000"/>
            <a:ext cx="9773000" cy="8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1F2937"/>
                </a:solidFill>
                <a:latin typeface="Arial"/>
              </a:rPr>
              <a:t>The objective is a reproducible content-based classification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4000" y="476000"/>
            <a:ext cx="10287000" cy="5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5233B"/>
                </a:solidFill>
                <a:latin typeface="Arial"/>
              </a:rPr>
              <a:t>Dataset and feature representation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24000" y="1105000"/>
            <a:ext cx="10744200" cy="28600"/>
          </a:xfrm>
          <a:prstGeom prst="rect">
            <a:avLst/>
          </a:prstGeom>
          <a:solidFill>
            <a:srgbClr val="17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34000" y="6381000"/>
            <a:ext cx="2134000" cy="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26078"/>
                </a:solidFill>
                <a:latin typeface="Arial"/>
              </a:rPr>
              <a:t>03  /  UE24CS352A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000" y="1543000"/>
            <a:ext cx="409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6B67"/>
                </a:solidFill>
                <a:latin typeface="Arial"/>
              </a:rPr>
              <a:t>Supplied Spotify Songs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000" y="2095000"/>
            <a:ext cx="4191000" cy="4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5233B"/>
                </a:solidFill>
                <a:latin typeface="Arial"/>
              </a:rPr>
              <a:t>32,833 playlist-track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000" y="2590000"/>
            <a:ext cx="4191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5233B"/>
                </a:solidFill>
                <a:latin typeface="Arial"/>
              </a:rPr>
              <a:t>28,356 unique tracks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000" y="3105000"/>
            <a:ext cx="457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Arial"/>
              </a:rPr>
              <a:t>12 numeric audio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000" y="3581000"/>
            <a:ext cx="457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Arial"/>
              </a:rPr>
              <a:t>6 playlist genres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05000" y="1524000"/>
            <a:ext cx="19100" cy="4000000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1000" y="1543000"/>
            <a:ext cx="4191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6B67"/>
                </a:solidFill>
                <a:latin typeface="Arial"/>
              </a:rPr>
              <a:t>Data preparation</a:t>
            </a:r>
          </a:p>
        </p:txBody>
      </p:sp>
      <p:sp>
        <p:nvSpPr>
          <p:cNvPr id="13" name="Oval 12"/>
          <p:cNvSpPr/>
          <p:nvPr/>
        </p:nvSpPr>
        <p:spPr>
          <a:xfrm>
            <a:off x="6400000" y="2200000"/>
            <a:ext cx="133000" cy="133000"/>
          </a:xfrm>
          <a:prstGeom prst="ellipse">
            <a:avLst/>
          </a:prstGeom>
          <a:solidFill>
            <a:srgbClr val="17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4000" y="2114000"/>
            <a:ext cx="4534000" cy="6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rial"/>
              </a:rPr>
              <a:t>Aggregate repeated rows by track ID.</a:t>
            </a:r>
          </a:p>
        </p:txBody>
      </p:sp>
      <p:sp>
        <p:nvSpPr>
          <p:cNvPr id="15" name="Oval 14"/>
          <p:cNvSpPr/>
          <p:nvPr/>
        </p:nvSpPr>
        <p:spPr>
          <a:xfrm>
            <a:off x="6400000" y="2905000"/>
            <a:ext cx="133000" cy="133000"/>
          </a:xfrm>
          <a:prstGeom prst="ellipse">
            <a:avLst/>
          </a:prstGeom>
          <a:solidFill>
            <a:srgbClr val="17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4000" y="2819000"/>
            <a:ext cx="4534000" cy="6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rial"/>
              </a:rPr>
              <a:t>Keep every genre label for multi-label learning.</a:t>
            </a:r>
          </a:p>
        </p:txBody>
      </p:sp>
      <p:sp>
        <p:nvSpPr>
          <p:cNvPr id="17" name="Oval 16"/>
          <p:cNvSpPr/>
          <p:nvPr/>
        </p:nvSpPr>
        <p:spPr>
          <a:xfrm>
            <a:off x="6400000" y="3610000"/>
            <a:ext cx="133000" cy="133000"/>
          </a:xfrm>
          <a:prstGeom prst="ellipse">
            <a:avLst/>
          </a:prstGeom>
          <a:solidFill>
            <a:srgbClr val="17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4000" y="3524000"/>
            <a:ext cx="4534000" cy="6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rial"/>
              </a:rPr>
              <a:t>Track-level 80/20 split; seed 42.</a:t>
            </a:r>
          </a:p>
        </p:txBody>
      </p:sp>
      <p:sp>
        <p:nvSpPr>
          <p:cNvPr id="19" name="Oval 18"/>
          <p:cNvSpPr/>
          <p:nvPr/>
        </p:nvSpPr>
        <p:spPr>
          <a:xfrm>
            <a:off x="6400000" y="4315000"/>
            <a:ext cx="133000" cy="133000"/>
          </a:xfrm>
          <a:prstGeom prst="ellipse">
            <a:avLst/>
          </a:prstGeom>
          <a:solidFill>
            <a:srgbClr val="17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4000" y="4229000"/>
            <a:ext cx="4534000" cy="6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rial"/>
              </a:rPr>
              <a:t>1,687 tracks carry multiple genre labels.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4000" y="476000"/>
            <a:ext cx="10287000" cy="5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5233B"/>
                </a:solidFill>
                <a:latin typeface="Arial"/>
              </a:rPr>
              <a:t>Modeling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24000" y="1105000"/>
            <a:ext cx="10744200" cy="28600"/>
          </a:xfrm>
          <a:prstGeom prst="rect">
            <a:avLst/>
          </a:prstGeom>
          <a:solidFill>
            <a:srgbClr val="17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34000" y="6381000"/>
            <a:ext cx="2134000" cy="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26078"/>
                </a:solidFill>
                <a:latin typeface="Arial"/>
              </a:rPr>
              <a:t>04  /  UE24CS352A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1619000"/>
            <a:ext cx="667000" cy="3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76B67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048000"/>
            <a:ext cx="2381000" cy="38100"/>
          </a:xfrm>
          <a:prstGeom prst="rect">
            <a:avLst/>
          </a:prstGeom>
          <a:solidFill>
            <a:srgbClr val="17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000" y="2286000"/>
            <a:ext cx="2381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233B"/>
                </a:solidFill>
                <a:latin typeface="Arial"/>
              </a:rPr>
              <a:t>Load and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2876000"/>
            <a:ext cx="2381000" cy="1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playlist rows
by track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5000" y="1619000"/>
            <a:ext cx="667000" cy="3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76B67"/>
                </a:solidFill>
                <a:latin typeface="Arial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5000" y="2048000"/>
            <a:ext cx="2381000" cy="38100"/>
          </a:xfrm>
          <a:prstGeom prst="rect">
            <a:avLst/>
          </a:prstGeom>
          <a:solidFill>
            <a:srgbClr val="17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5000" y="2286000"/>
            <a:ext cx="2381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233B"/>
                </a:solidFill>
                <a:latin typeface="Arial"/>
              </a:rPr>
              <a:t>Prepare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5000" y="2876000"/>
            <a:ext cx="2381000" cy="1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average repeated
acoustic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000" y="1619000"/>
            <a:ext cx="667000" cy="3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76B67"/>
                </a:solidFill>
                <a:latin typeface="Arial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0000" y="2048000"/>
            <a:ext cx="2381000" cy="38100"/>
          </a:xfrm>
          <a:prstGeom prst="rect">
            <a:avLst/>
          </a:prstGeom>
          <a:solidFill>
            <a:srgbClr val="17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000" y="2286000"/>
            <a:ext cx="2381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233B"/>
                </a:solidFill>
                <a:latin typeface="Arial"/>
              </a:rPr>
              <a:t>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000" y="2876000"/>
            <a:ext cx="2381000" cy="1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logistic regression
RBF SVM
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000" y="1619000"/>
            <a:ext cx="667000" cy="3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76B67"/>
                </a:solidFill>
                <a:latin typeface="Arial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000" y="2048000"/>
            <a:ext cx="238100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000" y="2286000"/>
            <a:ext cx="2381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233B"/>
                </a:solidFill>
                <a:latin typeface="Arial"/>
              </a:rPr>
              <a:t>Evaluate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000" y="2876000"/>
            <a:ext cx="2381000" cy="1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micro + macro F1
ranking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000" y="4876000"/>
            <a:ext cx="10097000" cy="3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26078"/>
                </a:solidFill>
                <a:latin typeface="Arial"/>
              </a:rPr>
              <a:t>Preprocessing stays inside each model pipeline, fitted on training data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4000" y="476000"/>
            <a:ext cx="10287000" cy="5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5233B"/>
                </a:solidFill>
                <a:latin typeface="Arial"/>
              </a:rPr>
              <a:t>5-fold cross-validation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24000" y="1105000"/>
            <a:ext cx="10744200" cy="28600"/>
          </a:xfrm>
          <a:prstGeom prst="rect">
            <a:avLst/>
          </a:prstGeom>
          <a:solidFill>
            <a:srgbClr val="17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34000" y="6381000"/>
            <a:ext cx="2134000" cy="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26078"/>
                </a:solidFill>
                <a:latin typeface="Arial"/>
              </a:rPr>
              <a:t>05  /  UE24CS352A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4000" y="1619000"/>
          <a:ext cx="7722000" cy="2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59000"/>
                <a:gridCol w="1359000"/>
                <a:gridCol w="1359000"/>
                <a:gridCol w="1359000"/>
              </a:tblGrid>
              <a:tr h="714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Micro F1</a:t>
                      </a:r>
                    </a:p>
                  </a:txBody>
                  <a:tcPr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Macro F1</a:t>
                      </a:r>
                    </a:p>
                  </a:txBody>
                  <a:tcPr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Top-1 hit</a:t>
                      </a:r>
                    </a:p>
                  </a:txBody>
                  <a:tcPr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Recall@3</a:t>
                      </a:r>
                    </a:p>
                  </a:txBody>
                  <a:tcPr>
                    <a:solidFill>
                      <a:srgbClr val="15233B"/>
                    </a:solidFill>
                  </a:tcPr>
                </a:tc>
              </a:tr>
              <a:tr h="7145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0.463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0.473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0.485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0.826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45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RBF SVM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0.525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0.533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0.548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0.865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145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>
                    <a:solidFill>
                      <a:srgbClr val="DDF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0.572</a:t>
                      </a:r>
                    </a:p>
                  </a:txBody>
                  <a:tcPr>
                    <a:solidFill>
                      <a:srgbClr val="DDF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0.563</a:t>
                      </a:r>
                    </a:p>
                  </a:txBody>
                  <a:tcPr>
                    <a:solidFill>
                      <a:srgbClr val="DDF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0.589</a:t>
                      </a:r>
                    </a:p>
                  </a:txBody>
                  <a:tcPr>
                    <a:solidFill>
                      <a:srgbClr val="DDF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0.878</a:t>
                      </a:r>
                    </a:p>
                  </a:txBody>
                  <a:tcPr>
                    <a:solidFill>
                      <a:srgbClr val="DDF3E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860000" y="1695000"/>
            <a:ext cx="2381000" cy="2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26078"/>
                </a:solidFill>
                <a:latin typeface="Arial"/>
              </a:rPr>
              <a:t>Selected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0000" y="2134000"/>
            <a:ext cx="2477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6B67"/>
                </a:solidFill>
                <a:latin typeface="Arial"/>
              </a:rPr>
              <a:t>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0000" y="2781000"/>
            <a:ext cx="2477000" cy="3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rial"/>
              </a:rPr>
              <a:t>CV Macro F1: 0.563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0000" y="3181000"/>
            <a:ext cx="2477000" cy="3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rial"/>
              </a:rPr>
              <a:t>Test Macro F1: 0.563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0000" y="3581000"/>
            <a:ext cx="2477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rial"/>
              </a:rPr>
              <a:t>Test exact match: 0.549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0000" y="4115000"/>
            <a:ext cx="2477000" cy="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6078"/>
                </a:solidFill>
                <a:latin typeface="Arial"/>
              </a:rPr>
              <a:t>5,672 untouched test tracks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000" y="5201000"/>
            <a:ext cx="10478000" cy="45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6078"/>
                </a:solidFill>
                <a:latin typeface="Arial"/>
              </a:rPr>
              <a:t>Table shows mean 5-fold CV scores on the 80% development set. The test set is evaluated once for the selected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4000" y="476000"/>
            <a:ext cx="10287000" cy="5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5233B"/>
                </a:solidFill>
                <a:latin typeface="Arial"/>
              </a:rPr>
              <a:t>Demo and 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24000" y="1105000"/>
            <a:ext cx="10744200" cy="28600"/>
          </a:xfrm>
          <a:prstGeom prst="rect">
            <a:avLst/>
          </a:prstGeom>
          <a:solidFill>
            <a:srgbClr val="17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34000" y="6381000"/>
            <a:ext cx="2134000" cy="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26078"/>
                </a:solidFill>
                <a:latin typeface="Arial"/>
              </a:rPr>
              <a:t>06  /  UE24CS352A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000" y="1562000"/>
            <a:ext cx="4191000" cy="3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6B67"/>
                </a:solidFill>
                <a:latin typeface="Arial"/>
              </a:rPr>
              <a:t>Live demo</a:t>
            </a:r>
          </a:p>
        </p:txBody>
      </p:sp>
      <p:sp>
        <p:nvSpPr>
          <p:cNvPr id="7" name="Oval 6"/>
          <p:cNvSpPr/>
          <p:nvPr/>
        </p:nvSpPr>
        <p:spPr>
          <a:xfrm>
            <a:off x="876000" y="2162000"/>
            <a:ext cx="133000" cy="133000"/>
          </a:xfrm>
          <a:prstGeom prst="ellipse">
            <a:avLst/>
          </a:prstGeom>
          <a:solidFill>
            <a:srgbClr val="17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2076000"/>
            <a:ext cx="4676000" cy="7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rial"/>
              </a:rPr>
              <a:t>Train the model from the supplied playlist-track CSV.</a:t>
            </a:r>
          </a:p>
        </p:txBody>
      </p:sp>
      <p:sp>
        <p:nvSpPr>
          <p:cNvPr id="9" name="Oval 8"/>
          <p:cNvSpPr/>
          <p:nvPr/>
        </p:nvSpPr>
        <p:spPr>
          <a:xfrm>
            <a:off x="876000" y="2962000"/>
            <a:ext cx="133000" cy="133000"/>
          </a:xfrm>
          <a:prstGeom prst="ellipse">
            <a:avLst/>
          </a:prstGeom>
          <a:solidFill>
            <a:srgbClr val="17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0000" y="2876000"/>
            <a:ext cx="4676000" cy="7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rial"/>
              </a:rPr>
              <a:t>Upload a CSV with matching acoustic features.</a:t>
            </a:r>
          </a:p>
        </p:txBody>
      </p:sp>
      <p:sp>
        <p:nvSpPr>
          <p:cNvPr id="11" name="Oval 10"/>
          <p:cNvSpPr/>
          <p:nvPr/>
        </p:nvSpPr>
        <p:spPr>
          <a:xfrm>
            <a:off x="876000" y="3762000"/>
            <a:ext cx="133000" cy="133000"/>
          </a:xfrm>
          <a:prstGeom prst="ellipse">
            <a:avLst/>
          </a:prstGeom>
          <a:solidFill>
            <a:srgbClr val="17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0000" y="3676000"/>
            <a:ext cx="4676000" cy="7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rial"/>
              </a:rPr>
              <a:t>Review the top category, probability, and alternatives.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000" y="1524000"/>
            <a:ext cx="19100" cy="3790000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7000" y="1562000"/>
            <a:ext cx="4191000" cy="3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6B67"/>
                </a:solidFill>
                <a:latin typeface="Arial"/>
              </a:rP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000" y="2076000"/>
            <a:ext cx="4477000" cy="15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The best measured baseline is Random Forest. Acoustic features support broad category ranking, while playlist placement cannot validate personal taste.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000" y="4019000"/>
            <a:ext cx="4382000" cy="6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26078"/>
                </a:solidFill>
                <a:latin typeface="Arial"/>
              </a:rPr>
              <a:t>Next: evaluate listener-curated playlists and repeated cross-validation.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000" y="5524000"/>
            <a:ext cx="2858000" cy="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233B"/>
                </a:solidFill>
                <a:latin typeface="Arial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