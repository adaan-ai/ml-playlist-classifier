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(about 45 seconds). We are Mohammed Adaan Hamad and Lakshya Jeet Singh from Section E, presenting our</a:t>
            </a:r>
          </a:p>
          <a:p>
            <a:r>
              <a:t>UE24CS352A Machine Learning mini-project: training a playlist curator based on track features.</a:t>
            </a:r>
          </a:p>
          <a:p/>
          <a:p>
            <a:r>
              <a:t>The question: given only the audio characteristics of a song, can a model say which playlist genres it belongs to?</a:t>
            </a:r>
          </a:p>
          <a:p>
            <a:r>
              <a:t>Our target is six genres (edm, latin, pop, r&amp;b, rap, rock), and a song can carry more than one, so this is</a:t>
            </a:r>
          </a:p>
          <a:p>
            <a:r>
              <a:t>multi-label classification.</a:t>
            </a:r>
          </a:p>
          <a:p/>
          <a:p>
            <a:r>
              <a:t>Roadmap: problem and scope; the dataset; how we prevented leakage; the 5-fold cross-validation comparison of</a:t>
            </a:r>
          </a:p>
          <a:p>
            <a:r>
              <a:t>three models; the held-out test result for the winner (Random Forest); the Streamlit demo; then limitations and</a:t>
            </a:r>
          </a:p>
          <a:p>
            <a:r>
              <a:t>who did what.</a:t>
            </a:r>
          </a:p>
          <a:p/>
          <a:p>
            <a:r>
              <a:t>The headline number to remember: on 5,672 held-out tracks the Random Forest reaches 0.563</a:t>
            </a:r>
          </a:p>
          <a:p>
            <a:r>
              <a:t>Macro F1 and 88.2% Recall@3, and we got there with song-level splitting so the score is not inflated.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framing. The task: from the audio features of a track, predict which playlist genres it fits.</a:t>
            </a:r>
          </a:p>
          <a:p/>
          <a:p>
            <a:r>
              <a:t>Card 1: We frame the work against the Stanford CS229 line of playlist-genre classification on Spotify features.</a:t>
            </a:r>
          </a:p>
          <a:p>
            <a:r>
              <a:t>Our additions are multi-label targets (one track can sit in more than one genre) and strict song-level splitting.</a:t>
            </a:r>
          </a:p>
          <a:p>
            <a:r>
              <a:t>(Check the exact wording of the CS229 reference against our written report before presenting.)</a:t>
            </a:r>
          </a:p>
          <a:p/>
          <a:p>
            <a:r>
              <a:t>Card 2: Our curator is content-based. It sees only acoustic attributes, outputs six probabilities, and ranks genres.</a:t>
            </a:r>
          </a:p>
          <a:p>
            <a:r>
              <a:t>It has no notion of a listener.</a:t>
            </a:r>
          </a:p>
          <a:p/>
          <a:p>
            <a:r>
              <a:t>Card 3: Be upfront about scope. This is a classifier on an archival dataset. It is not a production recommender,</a:t>
            </a:r>
          </a:p>
          <a:p>
            <a:r>
              <a:t>and the demo does not call Spotify.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Dataset. An archival Spotify songs CSV with 32,833 playlist-track rows. After deduplicating by track_id we have</a:t>
            </a:r>
          </a:p>
          <a:p>
            <a:r>
              <a:t>28,356 unique tracks, because the same song can appear under more than one playlist.</a:t>
            </a:r>
          </a:p>
          <a:p/>
          <a:p>
            <a:r>
              <a:t>Features: 12 acoustic attributes (danceability through duration_ms). We deliberately left out playlist metadata</a:t>
            </a:r>
          </a:p>
          <a:p>
            <a:r>
              <a:t>and track popularity, since both would hand the model information about the label.</a:t>
            </a:r>
          </a:p>
          <a:p/>
          <a:p>
            <a:r>
              <a:t>Target: six genres as binary flags. 1,687 tracks (about 5.9%) have more than one genre. That is why we use</a:t>
            </a:r>
          </a:p>
          <a:p>
            <a:r>
              <a:t>multi-label metrics and report exact subset accuracy, which requires every one of the six flags to be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Leakage prevention is the most important methodological choice.</a:t>
            </a:r>
          </a:p>
          <a:p/>
          <a:p>
            <a:r>
              <a:t>Step 1: aggregate to one row per track. Step 2: split 80/20 by track_id before anything else, seed 42, giving</a:t>
            </a:r>
          </a:p>
          <a:p>
            <a:r>
              <a:t>22,684 training and 5,672 test tracks. Step 3: run 5-fold cross-validation on the development set only, with</a:t>
            </a:r>
          </a:p>
          <a:p>
            <a:r>
              <a:t>median imputation and standard scaling inside a Pipeline so each fold fits those statistics on its own training</a:t>
            </a:r>
          </a:p>
          <a:p>
            <a:r>
              <a:t>portion. Step 4: pick the model by mean CV Macro F1.</a:t>
            </a:r>
          </a:p>
          <a:p/>
          <a:p>
            <a:r>
              <a:t>Why it matters: 32,833 rows versus 28,356 tracks means 4,477 repeat rows. With a row-level split those repeats</a:t>
            </a:r>
          </a:p>
          <a:p>
            <a:r>
              <a:t>land on both sides and inflate the score. We avoid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comparison, 5-fold CV on the development set.</a:t>
            </a:r>
          </a:p>
          <a:p/>
          <a:p>
            <a:r>
              <a:t>Logistic Regression: Micro F1 0.463, Macro F1 0.473, subset accuracy only 9.7%.</a:t>
            </a:r>
          </a:p>
          <a:p>
            <a:r>
              <a:t>RBF SVM: Micro F1 0.525, Macro F1 0.533, subset 19.8%.</a:t>
            </a:r>
          </a:p>
          <a:p>
            <a:r>
              <a:t>Random Forest (100 trees): Micro F1 0.572, Macro F1 0.563, subset 53.9%.</a:t>
            </a:r>
          </a:p>
          <a:p/>
          <a:p>
            <a:r>
              <a:t>Random Forest was selected on mean CV Macro F1. The explanation for the linear model's low subset accuracy is our</a:t>
            </a:r>
          </a:p>
          <a:p>
            <a:r>
              <a:t>interpretation (one linear boundary per genre, overlapping classes), not something we tested directly. Say so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test evaluation of the Random Forest on 5,672 tracks never used for training or model selection.</a:t>
            </a:r>
          </a:p>
          <a:p/>
          <a:p>
            <a:r>
              <a:t>Macro F1 0.563, Micro F1 0.576, exact subset accuracy 54.87%, top-1 genre hit 59.36%, Recall@3 88.15%.</a:t>
            </a:r>
          </a:p>
          <a:p>
            <a:r>
              <a:t>These sit close to the CV numbers (Macro F1 0.556), which is what we expect when leakage is controlled.</a:t>
            </a:r>
          </a:p>
          <a:p/>
          <a:p>
            <a:r>
              <a:t>Per genre: Rock 0.703, EDM 0.683, Rap 0.653, R&amp;B 0.491, Latin 0.457, Pop 0.391.</a:t>
            </a:r>
          </a:p>
          <a:p>
            <a:r>
              <a:t>The reason Pop scores lowest is our hypothesis: it is a broad label that overlaps the rest. We have not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flow. The trained Random Forest is saved as results/playlist_model.joblib. The Streamlit app (app.py) loads it,</a:t>
            </a:r>
          </a:p>
          <a:p>
            <a:r>
              <a:t>reads a CSV such as samples/demo_tracks.csv, computes a probability for each of the six genres per track, ranks them,</a:t>
            </a:r>
          </a:p>
          <a:p>
            <a:r>
              <a:t>and shows the result in the UI with a download button for the ranked CSV.</a:t>
            </a:r>
          </a:p>
          <a:p/>
          <a:p>
            <a:r>
              <a:t>Before presenting, run through the checklist on the slide: model loads, CSV uploads, ranking shows, top-3 appears,</a:t>
            </a:r>
          </a:p>
          <a:p>
            <a:r>
              <a:t>download works, and nothing needs internet or a Spotify key. Keep the CSV open as a fallback if the live app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 first. The curator is a proxy: genres are playlist-derived labels, not personal taste. The data is a</a:t>
            </a:r>
          </a:p>
          <a:p>
            <a:r>
              <a:t>historical snapshot. There is no Spotify API scraping, so the demo only scores tracks in a CSV. Labels overlap,</a:t>
            </a:r>
          </a:p>
          <a:p>
            <a:r>
              <a:t>which hurts Pop most. And we report a single 80/20 split.</a:t>
            </a:r>
          </a:p>
          <a:p/>
          <a:p>
            <a:r>
              <a:t>Contributions. Mohammed Adaan Hamad: dataset preparation, CSV validation, track-level grouping, multi-label target</a:t>
            </a:r>
          </a:p>
          <a:p>
            <a:r>
              <a:t>formulation, model comparison and cross-validation scoring. Lakshya Jeet Singh: evaluation methodology, leakage</a:t>
            </a:r>
          </a:p>
          <a:p>
            <a:r>
              <a:t>prevention design, feature selection validation, the Streamlit demo (app.py), the automated report and</a:t>
            </a:r>
          </a:p>
          <a:p>
            <a:r>
              <a:t>presentation pipeline, and final QA and testing.</a:t>
            </a:r>
          </a:p>
          <a:p/>
          <a:p>
            <a:r>
              <a:t>Close by restating the result: Random Forest, Macro F1 0.563 on held-out tracks, with leakage controlled.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4480560" cy="420624"/>
          </a:xfrm>
          <a:prstGeom prst="roundRect">
            <a:avLst>
              <a:gd name="adj" fmla="val 50000"/>
            </a:avLst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UE24CS352A  ·  Machine Learning Mini-Project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Training a Playlist Curator Based on Track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DDF3ED"/>
                </a:solidFill>
                <a:latin typeface="Calibri"/>
              </a:rPr>
              <a:t>Multi-label genre prediction from 12 acoustic attributes, evaluated with track-level leakage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72000"/>
            <a:ext cx="2011680" cy="45720"/>
          </a:xfrm>
          <a:prstGeom prst="rect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Mohammed Adaan Hamad  ·  Lakshya Jeet Singh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D8DEE8"/>
                </a:solidFill>
                <a:latin typeface="Calibri"/>
              </a:rPr>
              <a:t>Section E  ·  PES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5233B"/>
                </a:solidFill>
                <a:latin typeface="Calibri"/>
              </a:rPr>
              <a:t>Problem formulation and practical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" cy="45720"/>
          </a:xfrm>
          <a:prstGeom prst="rect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11512" y="502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DD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176B67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9752" y="641908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6078"/>
                </a:solidFill>
                <a:latin typeface="Calibri"/>
              </a:rPr>
              <a:t>UE24CS352A  ·  ML Mini-Project  ·  Slide 2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76218" cy="484632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45920"/>
            <a:ext cx="420624" cy="420624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257037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5233B"/>
                </a:solidFill>
                <a:latin typeface="Calibri"/>
              </a:rPr>
              <a:t>Baseline and gap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3119018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3119018" cy="3474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Baseline: </a:t>
            </a:r>
            <a:r>
              <a:rPr sz="1600" b="0">
                <a:solidFill>
                  <a:srgbClr val="1F2937"/>
                </a:solidFill>
                <a:latin typeface="Calibri"/>
              </a:rPr>
              <a:t>Stanford CS229 work treats playlist assignment as supervised learning on Spotify audio features.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Gap: </a:t>
            </a:r>
            <a:r>
              <a:rPr sz="1600" b="0">
                <a:solidFill>
                  <a:srgbClr val="1F2937"/>
                </a:solidFill>
                <a:latin typeface="Calibri"/>
              </a:rPr>
              <a:t>tracks belong to several genres, and the same track appears in several playlists.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Our focus: </a:t>
            </a:r>
            <a:r>
              <a:rPr sz="1600" b="0">
                <a:solidFill>
                  <a:srgbClr val="1F2937"/>
                </a:solidFill>
                <a:latin typeface="Calibri"/>
              </a:rPr>
              <a:t>multi-label targets and an evaluation that cannot see the same song in train and test.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371600"/>
            <a:ext cx="3576218" cy="484632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36338" y="1645920"/>
            <a:ext cx="420624" cy="420624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978" y="1645920"/>
            <a:ext cx="257037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5233B"/>
                </a:solidFill>
                <a:latin typeface="Calibri"/>
              </a:rPr>
              <a:t>Content-based proxy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36338" y="2286000"/>
            <a:ext cx="3119018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6338" y="2514600"/>
            <a:ext cx="3119018" cy="3474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600" b="0">
                <a:solidFill>
                  <a:srgbClr val="1F2937"/>
                </a:solidFill>
                <a:latin typeface="Calibri"/>
              </a:rPr>
              <a:t>Input: 12 acoustic attributes of one track.</a:t>
            </a:r>
          </a:p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600" b="0">
                <a:solidFill>
                  <a:srgbClr val="1F2937"/>
                </a:solidFill>
                <a:latin typeface="Calibri"/>
              </a:rPr>
              <a:t>Output: a probability for each of 6 genres, ranked.</a:t>
            </a:r>
          </a:p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600" b="0">
                <a:solidFill>
                  <a:srgbClr val="1F2937"/>
                </a:solidFill>
                <a:latin typeface="Calibri"/>
              </a:rPr>
              <a:t>The curator suggests the top-ranked genres as playlist homes.</a:t>
            </a:r>
          </a:p>
          <a:p>
            <a:pPr algn="l" marL="182880" indent="-182880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600" b="0">
                <a:solidFill>
                  <a:srgbClr val="1F2937"/>
                </a:solidFill>
                <a:latin typeface="Calibri"/>
              </a:rPr>
              <a:t>No listening history and no user profile are used.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1371600"/>
            <a:ext cx="3576218" cy="484632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1645920"/>
            <a:ext cx="420624" cy="420624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5516" y="1645920"/>
            <a:ext cx="257037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5233B"/>
                </a:solidFill>
                <a:latin typeface="Calibri"/>
              </a:rPr>
              <a:t>Honest scope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86876" y="2286000"/>
            <a:ext cx="3119018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6876" y="2514600"/>
            <a:ext cx="3119018" cy="3474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600" b="0">
                <a:solidFill>
                  <a:srgbClr val="1F2937"/>
                </a:solidFill>
                <a:latin typeface="Calibri"/>
              </a:rPr>
              <a:t>A classifier trained on an archival CSV, not a full recommender.</a:t>
            </a:r>
          </a:p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600" b="0">
                <a:solidFill>
                  <a:srgbClr val="1F2937"/>
                </a:solidFill>
                <a:latin typeface="Calibri"/>
              </a:rPr>
              <a:t>Playlist metadata and track popularity are excluded on purpose.</a:t>
            </a:r>
          </a:p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600" b="0">
                <a:solidFill>
                  <a:srgbClr val="1F2937"/>
                </a:solidFill>
                <a:latin typeface="Calibri"/>
              </a:rPr>
              <a:t>Results describe this dataset and these six genres only.</a:t>
            </a:r>
          </a:p>
          <a:p>
            <a:pPr algn="l" marL="182880" indent="-182880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600" b="0">
                <a:solidFill>
                  <a:srgbClr val="1F2937"/>
                </a:solidFill>
                <a:latin typeface="Calibri"/>
              </a:rPr>
              <a:t>The demo ranks tracks from a CSV and makes no Spotify API calls.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5233B"/>
                </a:solidFill>
                <a:latin typeface="Calibri"/>
              </a:rPr>
              <a:t>Dataset and multi-label ground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" cy="45720"/>
          </a:xfrm>
          <a:prstGeom prst="rect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11512" y="502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DD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176B67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9752" y="641908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6078"/>
                </a:solidFill>
                <a:latin typeface="Calibri"/>
              </a:rPr>
              <a:t>UE24CS352A  ·  ML Mini-Project  ·  Slide 3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647873" cy="1234440"/>
          </a:xfrm>
          <a:prstGeom prst="roundRect">
            <a:avLst>
              <a:gd name="adj" fmla="val 3000"/>
            </a:avLst>
          </a:prstGeom>
          <a:solidFill>
            <a:srgbClr val="DDF3ED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2647873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76B67"/>
                </a:solidFill>
                <a:latin typeface="Calibri"/>
              </a:rPr>
              <a:t>32,833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264787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26078"/>
                </a:solidFill>
                <a:latin typeface="Calibri"/>
              </a:rPr>
              <a:t>playlist-track rows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673" y="1371600"/>
            <a:ext cx="2647873" cy="1234440"/>
          </a:xfrm>
          <a:prstGeom prst="roundRect">
            <a:avLst>
              <a:gd name="adj" fmla="val 3000"/>
            </a:avLst>
          </a:prstGeom>
          <a:solidFill>
            <a:srgbClr val="DDF3ED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3673" y="1508760"/>
            <a:ext cx="2647873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76B67"/>
                </a:solidFill>
                <a:latin typeface="Calibri"/>
              </a:rPr>
              <a:t>28,356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3673" y="2148840"/>
            <a:ext cx="264787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26078"/>
                </a:solidFill>
                <a:latin typeface="Calibri"/>
              </a:rPr>
              <a:t>unique tracks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2647873" cy="1234440"/>
          </a:xfrm>
          <a:prstGeom prst="roundRect">
            <a:avLst>
              <a:gd name="adj" fmla="val 3000"/>
            </a:avLst>
          </a:prstGeom>
          <a:solidFill>
            <a:srgbClr val="DDF3ED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147" y="1508760"/>
            <a:ext cx="2647873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76B67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7" y="2148840"/>
            <a:ext cx="264787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26078"/>
                </a:solidFill>
                <a:latin typeface="Calibri"/>
              </a:rPr>
              <a:t>acoustic features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621" y="1371600"/>
            <a:ext cx="2647873" cy="1234440"/>
          </a:xfrm>
          <a:prstGeom prst="roundRect">
            <a:avLst>
              <a:gd name="adj" fmla="val 3000"/>
            </a:avLst>
          </a:prstGeom>
          <a:solidFill>
            <a:srgbClr val="DDF3ED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6621" y="1508760"/>
            <a:ext cx="2647873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76B67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6621" y="2148840"/>
            <a:ext cx="264787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26078"/>
                </a:solidFill>
                <a:latin typeface="Calibri"/>
              </a:rPr>
              <a:t>genre labels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5501487" cy="338328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632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5233B"/>
                </a:solidFill>
                <a:latin typeface="Calibri"/>
              </a:rPr>
              <a:t>12 acoustic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566160"/>
            <a:ext cx="4952847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danceability, energy, key, loudness, mode, speechiness, acousticness, instrumentalness, liveness, valence, tempo, duration_ms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754880"/>
            <a:ext cx="4952847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4952847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6B67"/>
                </a:solidFill>
                <a:latin typeface="Calibri"/>
              </a:rPr>
              <a:t>Zero-leakage guarantee: </a:t>
            </a:r>
            <a:r>
              <a:rPr sz="1400" b="0">
                <a:solidFill>
                  <a:srgbClr val="1F2937"/>
                </a:solidFill>
                <a:latin typeface="Calibri"/>
              </a:rPr>
              <a:t>playlist metadata and track popularity never enter the feature matrix, so the model cannot read the answer from the playlist it came from.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2834640"/>
            <a:ext cx="5501487" cy="338328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30632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5233B"/>
                </a:solidFill>
                <a:latin typeface="Calibri"/>
              </a:rPr>
              <a:t>Multi-label ground truth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7327" y="3566160"/>
            <a:ext cx="4952847" cy="256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Genres: edm, latin, pop, r&amp;b, rap, rock.</a:t>
            </a:r>
          </a:p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Each track gets 6 binary flags, so one song can sit in several playlists.</a:t>
            </a:r>
          </a:p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400" b="1">
                <a:solidFill>
                  <a:srgbClr val="176B67"/>
                </a:solidFill>
                <a:latin typeface="Calibri"/>
              </a:rPr>
              <a:t>1,687 crossover tracks </a:t>
            </a:r>
            <a:r>
              <a:rPr sz="1400" b="0">
                <a:solidFill>
                  <a:srgbClr val="1F2937"/>
                </a:solidFill>
                <a:latin typeface="Calibri"/>
              </a:rPr>
              <a:t>(about 5.9% of 28,356) carry more than one genre label.</a:t>
            </a:r>
          </a:p>
          <a:p>
            <a:pPr algn="l" marL="182880" indent="-182880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32,833 rows collapse to 28,356 tracks by track_id.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5233B"/>
                </a:solidFill>
                <a:latin typeface="Calibri"/>
              </a:rPr>
              <a:t>Leakage prevention and pipeline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" cy="45720"/>
          </a:xfrm>
          <a:prstGeom prst="rect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11512" y="502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DD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176B67"/>
                </a:solidFill>
                <a:latin typeface="Calibri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9752" y="641908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6078"/>
                </a:solidFill>
                <a:latin typeface="Calibri"/>
              </a:rPr>
              <a:t>UE24CS352A  ·  ML Mini-Project  ·  Slide 4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647873" cy="260604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572768"/>
            <a:ext cx="420624" cy="420624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48840"/>
            <a:ext cx="2245537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5233B"/>
                </a:solidFill>
                <a:latin typeface="Calibri"/>
              </a:rPr>
              <a:t>Track-level aggregation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88920"/>
            <a:ext cx="2245537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Rows are merged by track_id, so each song is one sample with its full genre 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673" y="1371600"/>
            <a:ext cx="2647873" cy="260604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34841" y="1572768"/>
            <a:ext cx="420624" cy="420624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4841" y="2148840"/>
            <a:ext cx="2245537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5233B"/>
                </a:solidFill>
                <a:latin typeface="Calibri"/>
              </a:rPr>
              <a:t>Strict 80/20 song-level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4841" y="2788920"/>
            <a:ext cx="2245537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Grouped by track_id before splitting, seed 42: 22,684 train and 5,672 test tracks.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1371600"/>
            <a:ext cx="2647873" cy="260604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1315" y="1572768"/>
            <a:ext cx="420624" cy="420624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1315" y="2148840"/>
            <a:ext cx="2245537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5233B"/>
                </a:solidFill>
                <a:latin typeface="Calibri"/>
              </a:rPr>
              <a:t>Encapsulated 5-fold CV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1315" y="2788920"/>
            <a:ext cx="2245537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Median imputation and standard scaling sit inside a sklearn Pipeline, refit per fold.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6621" y="1371600"/>
            <a:ext cx="2647873" cy="260604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7789" y="1572768"/>
            <a:ext cx="420624" cy="420624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7789" y="2148840"/>
            <a:ext cx="2245537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5233B"/>
                </a:solidFill>
                <a:latin typeface="Calibri"/>
              </a:rPr>
              <a:t>Macro F1 selection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7789" y="2788920"/>
            <a:ext cx="2245537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model with the best mean CV Macro F1 is chosen, so small genres count equally.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206240"/>
            <a:ext cx="11277295" cy="2011680"/>
          </a:xfrm>
          <a:prstGeom prst="roundRect">
            <a:avLst>
              <a:gd name="adj" fmla="val 3000"/>
            </a:avLst>
          </a:prstGeom>
          <a:solidFill>
            <a:srgbClr val="DDF3ED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4348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6B67"/>
                </a:solidFill>
                <a:latin typeface="Calibri"/>
              </a:rPr>
              <a:t>Why row-level splitting gives optimistic scores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37759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6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The 4,477 extra rows (32,833 minus 28,356) are repeat appearances of the same track.</a:t>
            </a:r>
          </a:p>
          <a:p>
            <a:pPr algn="l" marL="182880" indent="-182880">
              <a:lnSpc>
                <a:spcPct val="100000"/>
              </a:lnSpc>
              <a:spcAft>
                <a:spcPts val="6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A random row split puts copies of one song in both train and test, so the model is graded on songs it has already seen.</a:t>
            </a:r>
          </a:p>
          <a:p>
            <a:pPr algn="l" marL="182880" indent="-182880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Splitting by track_id first keeps every song on exactly one side, so test scores reflect unseen music.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5233B"/>
                </a:solidFill>
                <a:latin typeface="Calibri"/>
              </a:rPr>
              <a:t>5-fold cross-validation model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" cy="45720"/>
          </a:xfrm>
          <a:prstGeom prst="rect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11512" y="502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DD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176B67"/>
                </a:solidFill>
                <a:latin typeface="Calibri"/>
              </a:rPr>
              <a:t>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9752" y="641908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6078"/>
                </a:solidFill>
                <a:latin typeface="Calibri"/>
              </a:rPr>
              <a:t>UE24CS352A  ·  ML Mini-Project  ·  Slide 5 /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7589520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051560"/>
                <a:gridCol w="1051560"/>
                <a:gridCol w="1051560"/>
                <a:gridCol w="1051560"/>
                <a:gridCol w="105156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Micro F1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Top-1 hit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Subset acc.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0.463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0.473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48.5%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82.6%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9.7%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RBF SVM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0.525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0.533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54.8%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86.5%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19.8%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76B67"/>
                          </a:solidFill>
                          <a:latin typeface="Calibri"/>
                        </a:rPr>
                        <a:t>Random Forest (100 trees)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D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76B67"/>
                          </a:solidFill>
                          <a:latin typeface="Calibri"/>
                        </a:rPr>
                        <a:t>0.572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D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76B67"/>
                          </a:solidFill>
                          <a:latin typeface="Calibri"/>
                        </a:rPr>
                        <a:t>0.563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D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76B67"/>
                          </a:solidFill>
                          <a:latin typeface="Calibri"/>
                        </a:rPr>
                        <a:t>58.9%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D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76B67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D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76B67"/>
                          </a:solidFill>
                          <a:latin typeface="Calibri"/>
                        </a:rPr>
                        <a:t>53.9%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DDF3E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43400"/>
            <a:ext cx="7589520" cy="1874519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526280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5233B"/>
                </a:solidFill>
                <a:latin typeface="Calibri"/>
              </a:rPr>
              <a:t>Reading the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37760"/>
            <a:ext cx="704088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6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Calibri"/>
              </a:rPr>
              <a:t>Mean over 5 folds on 22,684 development tracks. Random Forest leads Macro F1 by 0.029 over RBF SVM and 0.090 over Logistic Regression.</a:t>
            </a:r>
          </a:p>
          <a:p>
            <a:pPr algn="l" marL="182880" indent="-182880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Calibri"/>
              </a:rPr>
              <a:t>Top-1 and Recall@3 judge the ranking. Subset accuracy needs all 6 flags right, so it is the strictest column.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371600"/>
            <a:ext cx="3413455" cy="4846320"/>
          </a:xfrm>
          <a:prstGeom prst="roundRect">
            <a:avLst>
              <a:gd name="adj" fmla="val 3000"/>
            </a:avLst>
          </a:prstGeom>
          <a:solidFill>
            <a:srgbClr val="DDF3ED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600200"/>
            <a:ext cx="28648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6B67"/>
                </a:solidFill>
                <a:latin typeface="Calibri"/>
              </a:rPr>
              <a:t>Why Random Forest won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286000"/>
            <a:ext cx="2864815" cy="37490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Best mean Macro F1 (0.563), the selection rule, and best on every column.</a:t>
            </a:r>
          </a:p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Trees can model interactions between features such as energy, loudness and acousticness.</a:t>
            </a:r>
          </a:p>
          <a:p>
            <a:pPr algn="l" marL="182880" indent="-182880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400" b="1">
                <a:solidFill>
                  <a:srgbClr val="1F2937"/>
                </a:solidFill>
                <a:latin typeface="Calibri"/>
              </a:rPr>
              <a:t>Logistic Regression: </a:t>
            </a:r>
            <a:r>
              <a:rPr sz="1400" b="0">
                <a:solidFill>
                  <a:srgbClr val="1F2937"/>
                </a:solidFill>
                <a:latin typeface="Calibri"/>
              </a:rPr>
              <a:t>subset accuracy is 9.7% against 53.9%. A linear boundary per genre likely struggles to get all six flags right on overlapping genres.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5233B"/>
                </a:solidFill>
                <a:latin typeface="Calibri"/>
              </a:rPr>
              <a:t>Final held-out test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" cy="45720"/>
          </a:xfrm>
          <a:prstGeom prst="rect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11512" y="502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DD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176B67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9752" y="641908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6078"/>
                </a:solidFill>
                <a:latin typeface="Calibri"/>
              </a:rPr>
              <a:t>UE24CS352A  ·  ML Mini-Project  ·  Slide 6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109155" cy="1234440"/>
          </a:xfrm>
          <a:prstGeom prst="roundRect">
            <a:avLst>
              <a:gd name="adj" fmla="val 3000"/>
            </a:avLst>
          </a:prstGeom>
          <a:solidFill>
            <a:srgbClr val="176B67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2109155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0.563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21091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DDF3ED"/>
                </a:solidFill>
                <a:latin typeface="Calibri"/>
              </a:rPr>
              <a:t>Macro F1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9235" y="1371600"/>
            <a:ext cx="2109155" cy="1234440"/>
          </a:xfrm>
          <a:prstGeom prst="roundRect">
            <a:avLst>
              <a:gd name="adj" fmla="val 3000"/>
            </a:avLst>
          </a:prstGeom>
          <a:solidFill>
            <a:srgbClr val="176B67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9235" y="1481328"/>
            <a:ext cx="2109155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0.576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9235" y="2148840"/>
            <a:ext cx="21091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DDF3ED"/>
                </a:solidFill>
                <a:latin typeface="Calibri"/>
              </a:rPr>
              <a:t>Micro F1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1270" y="1371600"/>
            <a:ext cx="2109155" cy="1234440"/>
          </a:xfrm>
          <a:prstGeom prst="roundRect">
            <a:avLst>
              <a:gd name="adj" fmla="val 3000"/>
            </a:avLst>
          </a:prstGeom>
          <a:solidFill>
            <a:srgbClr val="176B67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1270" y="1481328"/>
            <a:ext cx="2109155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54.9%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1270" y="2148840"/>
            <a:ext cx="21091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DDF3ED"/>
                </a:solidFill>
                <a:latin typeface="Calibri"/>
              </a:rPr>
              <a:t>Exact subset acc.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33305" y="1371600"/>
            <a:ext cx="2109155" cy="1234440"/>
          </a:xfrm>
          <a:prstGeom prst="roundRect">
            <a:avLst>
              <a:gd name="adj" fmla="val 3000"/>
            </a:avLst>
          </a:prstGeom>
          <a:solidFill>
            <a:srgbClr val="176B67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3305" y="1481328"/>
            <a:ext cx="2109155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59.4%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305" y="2148840"/>
            <a:ext cx="21091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DDF3ED"/>
                </a:solidFill>
                <a:latin typeface="Calibri"/>
              </a:rPr>
              <a:t>Top-1 genre hit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25340" y="1371600"/>
            <a:ext cx="2109155" cy="1234440"/>
          </a:xfrm>
          <a:prstGeom prst="roundRect">
            <a:avLst>
              <a:gd name="adj" fmla="val 3000"/>
            </a:avLst>
          </a:prstGeom>
          <a:solidFill>
            <a:srgbClr val="176B67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5340" y="1481328"/>
            <a:ext cx="2109155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88.2%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5340" y="2148840"/>
            <a:ext cx="21091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DDF3ED"/>
                </a:solidFill>
                <a:latin typeface="Calibri"/>
              </a:rPr>
              <a:t>Recall@3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834640"/>
            <a:ext cx="6035040" cy="338328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017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5233B"/>
                </a:solidFill>
                <a:latin typeface="Calibri"/>
              </a:rPr>
              <a:t>Per-genre test F1 (5,672 held-out tracks)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31520" y="3474720"/>
          <a:ext cx="5486400" cy="2688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Genre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 F1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 tracks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Rock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0.703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896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EDM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0.683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1,158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Rap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0.653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1,151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R&amp;B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0.491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1,023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0.457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879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Pop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0.391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948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6766559" y="2834640"/>
            <a:ext cx="4967935" cy="3383280"/>
          </a:xfrm>
          <a:prstGeom prst="roundRect">
            <a:avLst>
              <a:gd name="adj" fmla="val 3000"/>
            </a:avLst>
          </a:prstGeom>
          <a:solidFill>
            <a:srgbClr val="DDF3ED"/>
          </a:solidFill>
          <a:ln w="9525">
            <a:solidFill>
              <a:srgbClr val="176B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79" y="3017520"/>
            <a:ext cx="441929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6B67"/>
                </a:solidFill>
                <a:latin typeface="Calibri"/>
              </a:rPr>
              <a:t>Why Rock and EDM beat Pop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3566160"/>
            <a:ext cx="4419295" cy="256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Rock (0.703) and EDM (0.683) have distinctive acoustic profiles in energy, loudness and tempo.</a:t>
            </a:r>
          </a:p>
          <a:p>
            <a:pPr algn="l" marL="182880" indent="-18288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Pop (0.391) is an umbrella genre that overlaps with all the others, so no feature region is clearly its own.</a:t>
            </a:r>
          </a:p>
          <a:p>
            <a:pPr algn="l" marL="182880" indent="-182880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This is our likely explanation. We did not run an ablation to confirm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5233B"/>
                </a:solidFill>
                <a:latin typeface="Calibri"/>
              </a:rPr>
              <a:t>System architecture and 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" cy="45720"/>
          </a:xfrm>
          <a:prstGeom prst="rect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11512" y="502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DD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176B67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9752" y="641908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6078"/>
                </a:solidFill>
                <a:latin typeface="Calibri"/>
              </a:rPr>
              <a:t>UE24CS352A  ·  ML Mini-Project  ·  Slide 7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476423" cy="201168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572768"/>
            <a:ext cx="384048" cy="384048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03120"/>
            <a:ext cx="207408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5233B"/>
                </a:solidFill>
                <a:latin typeface="Calibri"/>
              </a:rPr>
              <a:t>Model bundle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14600"/>
            <a:ext cx="207408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6B67"/>
                </a:solidFill>
                <a:latin typeface="Courier New"/>
              </a:rPr>
              <a:t>results/playlist_model.joblib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25063" y="2240280"/>
            <a:ext cx="274320" cy="274320"/>
          </a:xfrm>
          <a:prstGeom prst="rightArrow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0823" y="1371600"/>
            <a:ext cx="2476423" cy="201168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91991" y="1572768"/>
            <a:ext cx="384048" cy="384048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03120"/>
            <a:ext cx="207408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5233B"/>
                </a:solidFill>
                <a:latin typeface="Calibri"/>
              </a:rPr>
              <a:t>CSV 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991" y="2514600"/>
            <a:ext cx="207408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6B67"/>
                </a:solidFill>
                <a:latin typeface="Courier New"/>
              </a:rPr>
              <a:t>samples/demo_tracks.csv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58687" y="2240280"/>
            <a:ext cx="274320" cy="274320"/>
          </a:xfrm>
          <a:prstGeom prst="rightArrow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24447" y="1371600"/>
            <a:ext cx="2476423" cy="201168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25615" y="1572768"/>
            <a:ext cx="384048" cy="384048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5615" y="2103120"/>
            <a:ext cx="207408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5233B"/>
                </a:solidFill>
                <a:latin typeface="Calibri"/>
              </a:rPr>
              <a:t>Probabilistic ranking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5615" y="2514600"/>
            <a:ext cx="207408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Genre probabilities per track, sorted high to low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92311" y="2240280"/>
            <a:ext cx="274320" cy="274320"/>
          </a:xfrm>
          <a:prstGeom prst="rightArrow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58071" y="1371600"/>
            <a:ext cx="2476423" cy="201168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59239" y="1572768"/>
            <a:ext cx="384048" cy="384048"/>
          </a:xfrm>
          <a:prstGeom prst="ellipse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9239" y="2103120"/>
            <a:ext cx="207408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5233B"/>
                </a:solidFill>
                <a:latin typeface="Calibri"/>
              </a:rPr>
              <a:t>Streamlit UI + 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9239" y="2514600"/>
            <a:ext cx="207408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app.py with a downloadable ranked CSV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11277295" cy="256032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8862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5233B"/>
                </a:solidFill>
                <a:latin typeface="Calibri"/>
              </a:rPr>
              <a:t>Live demo verification checklist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480560"/>
            <a:ext cx="5135727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□  Model bundle loads without retraining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□  demo_tracks.csv uploads with the 12 feature columns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□  Ranked genres appear with probabilities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8727" y="4480560"/>
            <a:ext cx="5135727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□  Top-3 genres shown for each track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□  Download button returns a ranked CSV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□  Runs with no Spotify API key or network call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5233B"/>
                </a:solidFill>
                <a:latin typeface="Calibri"/>
              </a:rPr>
              <a:t>Limitations and individual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" cy="45720"/>
          </a:xfrm>
          <a:prstGeom prst="rect">
            <a:avLst/>
          </a:prstGeom>
          <a:solidFill>
            <a:srgbClr val="17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11512" y="502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DD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176B67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9752" y="641908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6078"/>
                </a:solidFill>
                <a:latin typeface="Calibri"/>
              </a:rPr>
              <a:t>UE24CS352A  ·  ML Mini-Project  ·  Slide 8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4937760" cy="484632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5233B"/>
                </a:solidFill>
                <a:latin typeface="Calibri"/>
              </a:rPr>
              <a:t>Project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4389120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4389120" cy="3657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1500" b="1">
                <a:solidFill>
                  <a:srgbClr val="1F2937"/>
                </a:solidFill>
                <a:latin typeface="Calibri"/>
              </a:rPr>
              <a:t>Proxy, not taste: </a:t>
            </a:r>
            <a:r>
              <a:rPr sz="1500" b="0">
                <a:solidFill>
                  <a:srgbClr val="1F2937"/>
                </a:solidFill>
                <a:latin typeface="Calibri"/>
              </a:rPr>
              <a:t>genre labels stand in for a curator. No listener preference data is used.</a:t>
            </a:r>
          </a:p>
          <a:p>
            <a:pPr algn="l" marL="182880" indent="-182880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1500" b="1">
                <a:solidFill>
                  <a:srgbClr val="1F2937"/>
                </a:solidFill>
                <a:latin typeface="Calibri"/>
              </a:rPr>
              <a:t>Historical dataset: </a:t>
            </a:r>
            <a:r>
              <a:rPr sz="1500" b="0">
                <a:solidFill>
                  <a:srgbClr val="1F2937"/>
                </a:solidFill>
                <a:latin typeface="Calibri"/>
              </a:rPr>
              <a:t>an archival CSV, so features and tags may not match today's catalog.</a:t>
            </a:r>
          </a:p>
          <a:p>
            <a:pPr algn="l" marL="182880" indent="-182880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1500" b="1">
                <a:solidFill>
                  <a:srgbClr val="1F2937"/>
                </a:solidFill>
                <a:latin typeface="Calibri"/>
              </a:rPr>
              <a:t>No Spotify API: </a:t>
            </a:r>
            <a:r>
              <a:rPr sz="1500" b="0">
                <a:solidFill>
                  <a:srgbClr val="1F2937"/>
                </a:solidFill>
                <a:latin typeface="Calibri"/>
              </a:rPr>
              <a:t>the demo scores only tracks supplied in a CSV.</a:t>
            </a:r>
          </a:p>
          <a:p>
            <a:pPr algn="l" marL="182880" indent="-182880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1500" b="1">
                <a:solidFill>
                  <a:srgbClr val="1F2937"/>
                </a:solidFill>
                <a:latin typeface="Calibri"/>
              </a:rPr>
              <a:t>Noisy labels: </a:t>
            </a:r>
            <a:r>
              <a:rPr sz="1500" b="0">
                <a:solidFill>
                  <a:srgbClr val="1F2937"/>
                </a:solidFill>
                <a:latin typeface="Calibri"/>
              </a:rPr>
              <a:t>playlist-derived genres overlap, and Pop reaches only 0.391 F1.</a:t>
            </a:r>
          </a:p>
          <a:p>
            <a:pPr algn="l" marL="182880" indent="-182880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500" b="1">
                <a:solidFill>
                  <a:srgbClr val="1F2937"/>
                </a:solidFill>
                <a:latin typeface="Calibri"/>
              </a:rPr>
              <a:t>One split: </a:t>
            </a:r>
            <a:r>
              <a:rPr sz="1500" b="0">
                <a:solidFill>
                  <a:srgbClr val="1F2937"/>
                </a:solidFill>
                <a:latin typeface="Calibri"/>
              </a:rPr>
              <a:t>a single 80/20 holdout with seed 42.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371600"/>
            <a:ext cx="6065215" cy="484632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60020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5233B"/>
                </a:solidFill>
                <a:latin typeface="Calibri"/>
              </a:rPr>
              <a:t>Individual contribution record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943600" y="2286000"/>
          <a:ext cx="5516575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377921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15233B"/>
                    </a:solidFill>
                  </a:tcPr>
                </a:tc>
              </a:tr>
              <a:tr h="14630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Mohammed Adaan Hamad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Dataset preparation, CSV validation, track-level grouping, multi-label target formulation, model comparison, cross-validation scoring.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7373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Lakshya Jeet Singh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Evaluation methodology, train/test leakage prevention design, feature selection validation, Streamlit demo (app.py), automated report and presentation pipeline, final QA and testing.</a:t>
                      </a: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8DEE8"/>
                      </a:solidFill>
                      <a:prstDash val="soli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